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0A9EA49-D71A-4D90-B3E5-F04E485452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46" d="100"/>
          <a:sy n="146" d="100"/>
        </p:scale>
        <p:origin x="768" y="-180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- 한컴 아카데미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누구나 따라하는 Java 프로그래밍 기초 (08.22 ~ 08.25)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4일 / 32시간 (9:00 ~ 18:00)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88만원 20명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Qt/QML Application 개발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4일 / 32시간(9:00 ~ 18:00)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/>
              <a:t>110만원 20명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2f2261d37_2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6" name="Google Shape;106;g132f2261d3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18f0e3687_0_10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38" name="Google Shape;138;g1318f0e368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b8d20d927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45" name="Google Shape;145;g13b8d20d9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b8d20d927_0_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57" name="Google Shape;157;g13b8d20d92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18f0e3687_0_1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69" name="Google Shape;169;g1318f0e3687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b79f01727_0_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81" name="Google Shape;181;g13b79f0172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b79f01727_0_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93" name="Google Shape;193;g13b79f0172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fd0f1f471_3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5" name="Google Shape;205;g11fd0f1f471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501e58c2b_0_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12" name="Google Shape;212;g13501e58c2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501e58c2b_0_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12" name="Google Shape;212;g13501e58c2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b79f01727_0_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25" name="Google Shape;225;g13b79f0172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2f2261d37_4_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38" name="Google Shape;238;g132f2261d37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b9695ab7b_0_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50" name="Google Shape;250;g13b9695ab7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3b9695ab7b_0_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63" name="Google Shape;263;g13b9695ab7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b9695ab7b_0_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76" name="Google Shape;276;g13b9695ab7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b9695ab7b_0_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89" name="Google Shape;289;g13b9695ab7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3b9695ab7b_0_6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02" name="Google Shape;302;g13b9695ab7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3b9695ab7b_1_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15" name="Google Shape;315;g13b9695ab7b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3b9695ab7b_0_7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29" name="Google Shape;329;g13b9695ab7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b9695ab7b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41" name="Google Shape;341;g13b9695ab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b8d20d927_0_3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48" name="Google Shape;348;g13b8d20d92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318f0e3687_0_4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60" name="Google Shape;360;g1318f0e3687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cxnSp>
        <p:nvCxnSpPr>
          <p:cNvPr id="25" name="Google Shape;25;p5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28" name="Google Shape;28;p5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81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sz="2400" i="1">
                <a:latin typeface="Lora"/>
                <a:ea typeface="Lora"/>
                <a:cs typeface="Lora"/>
                <a:sym typeface="Lora"/>
              </a:defRPr>
            </a:lvl1pPr>
            <a:lvl2pPr marL="914400" lvl="1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marL="1371600" lvl="2" indent="-355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marL="1828800" lvl="3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4pPr>
            <a:lvl5pPr marL="2286000" lvl="4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5pPr>
            <a:lvl6pPr marL="2743200" lvl="5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6pPr>
            <a:lvl7pPr marL="3200400" lvl="6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7pPr>
            <a:lvl8pPr marL="3657600" lvl="7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8pPr>
            <a:lvl9pPr marL="4114800" lvl="8" indent="-381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cxnSp>
        <p:nvCxnSpPr>
          <p:cNvPr id="32" name="Google Shape;32;p6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6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“</a:t>
            </a:r>
            <a:endParaRPr sz="36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7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41" name="Google Shape;41;p7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8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8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9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58" name="Google Shape;58;p10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0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0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sz="1400" i="1">
                <a:latin typeface="Lora"/>
                <a:ea typeface="Lora"/>
                <a:cs typeface="Lora"/>
                <a:sym typeface="Lora"/>
              </a:defRPr>
            </a:lvl1pPr>
          </a:lstStyle>
          <a:p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1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eun1130/Raspberry-pi-QT5/blob/master/pro06_pca9685_class/widget.cp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daeun1130/Raspberry-pi-QT5/blob/master/pro06_pca9685_class/I2C_API.cpp" TargetMode="External"/><Relationship Id="rId5" Type="http://schemas.openxmlformats.org/officeDocument/2006/relationships/hyperlink" Target="https://github.com/daeun1130/Raspberry-pi-QT5/blob/master/pro06_pca9685_class/piezo.h" TargetMode="External"/><Relationship Id="rId4" Type="http://schemas.openxmlformats.org/officeDocument/2006/relationships/hyperlink" Target="https://github.com/daeun1130/Raspberry-pi-QT5/blob/master/pro06_pca9685_class/main.cpp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/index.php?title=%EC%82%AC%EC%9A%A9%EC%9E%90_%EC%9D%B8%ED%84%B0%ED%8E%98%EC%9D%B4%EC%8A%A4_%EB%A7%88%ED%81%AC%EC%97%85_%EC%96%B8%EC%96%B4&amp;action=edit&amp;redlink=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1824755" y="199183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신규 사원 세미나 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5254850" y="3315200"/>
            <a:ext cx="31968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Nanum Gothic"/>
                <a:ea typeface="Nanum Gothic"/>
                <a:cs typeface="Nanum Gothic"/>
                <a:sym typeface="Nanum Gothic"/>
              </a:rPr>
              <a:t>F/W 개발팀 연구원 김다은</a:t>
            </a:r>
            <a:endParaRPr sz="16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1229611" y="3506499"/>
            <a:ext cx="340844" cy="297873"/>
          </a:xfrm>
          <a:custGeom>
            <a:avLst/>
            <a:gdLst/>
            <a:ahLst/>
            <a:cxnLst/>
            <a:rect l="l" t="t" r="r" b="b"/>
            <a:pathLst>
              <a:path w="16221" h="14176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</a:t>
            </a:fld>
            <a:endParaRPr lang="en-US"/>
          </a:p>
        </p:txBody>
      </p:sp>
      <p:sp>
        <p:nvSpPr>
          <p:cNvPr id="79" name="Google Shape;79;p13"/>
          <p:cNvSpPr txBox="1">
            <a:spLocks noGrp="1"/>
          </p:cNvSpPr>
          <p:nvPr>
            <p:ph type="ctrTitle" idx="4294967295"/>
          </p:nvPr>
        </p:nvSpPr>
        <p:spPr>
          <a:xfrm>
            <a:off x="4102975" y="1432675"/>
            <a:ext cx="2231700" cy="370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프로젝트 소개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3156550" y="1381673"/>
            <a:ext cx="474900" cy="47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3156550" y="1381673"/>
            <a:ext cx="474900" cy="472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" sz="24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b="0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4294967295"/>
          </p:nvPr>
        </p:nvSpPr>
        <p:spPr>
          <a:xfrm>
            <a:off x="4102975" y="2125956"/>
            <a:ext cx="269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highlight>
                  <a:schemeClr val="lt1"/>
                </a:highlight>
                <a:latin typeface="Nanum Gothic"/>
                <a:ea typeface="Nanum Gothic"/>
                <a:cs typeface="Nanum Gothic"/>
                <a:sym typeface="Nanum Gothic"/>
              </a:rPr>
              <a:t>주요 기능</a:t>
            </a:r>
            <a:endParaRPr>
              <a:highlight>
                <a:schemeClr val="l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3156550" y="2099250"/>
            <a:ext cx="474900" cy="47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156550" y="2099240"/>
            <a:ext cx="474900" cy="472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3156550" y="2753027"/>
            <a:ext cx="474900" cy="47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56550" y="2743276"/>
            <a:ext cx="474900" cy="472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  <p:sp>
        <p:nvSpPr>
          <p:cNvPr id="91" name="Google Shape;91;p13"/>
          <p:cNvSpPr/>
          <p:nvPr/>
        </p:nvSpPr>
        <p:spPr>
          <a:xfrm>
            <a:off x="-142775" y="-49875"/>
            <a:ext cx="1571700" cy="528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6575" y="382975"/>
            <a:ext cx="813000" cy="477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900" b="1">
                <a:latin typeface="Nanum Gothic"/>
                <a:ea typeface="Nanum Gothic"/>
                <a:cs typeface="Nanum Gothic"/>
                <a:sym typeface="Nanum Gothic"/>
              </a:rPr>
              <a:t>목  차</a:t>
            </a:r>
            <a:endParaRPr sz="1900"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4294967295"/>
          </p:nvPr>
        </p:nvSpPr>
        <p:spPr>
          <a:xfrm>
            <a:off x="4102975" y="2778649"/>
            <a:ext cx="148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담당업무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156550" y="3416552"/>
            <a:ext cx="474900" cy="47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156550" y="3406801"/>
            <a:ext cx="474900" cy="472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ctrTitle" idx="4294967295"/>
          </p:nvPr>
        </p:nvSpPr>
        <p:spPr>
          <a:xfrm>
            <a:off x="4102975" y="3442174"/>
            <a:ext cx="148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추후 방향 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9825" y="2294700"/>
            <a:ext cx="48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/>
          </p:nvPr>
        </p:nvSpPr>
        <p:spPr>
          <a:xfrm>
            <a:off x="2287650" y="2408100"/>
            <a:ext cx="29127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프로젝트 소개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2061150" y="90926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프로젝트 소개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79950" y="1773875"/>
            <a:ext cx="62847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algun Gothic"/>
              <a:buChar char="●"/>
            </a:pP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주변 온도와 습도와 OpenCV를 활용한 </a:t>
            </a:r>
            <a:r>
              <a:rPr lang="en" sz="1600">
                <a:highlight>
                  <a:schemeClr val="accent1"/>
                </a:highlight>
                <a:latin typeface="Malgun Gothic"/>
                <a:ea typeface="Malgun Gothic"/>
                <a:cs typeface="Malgun Gothic"/>
                <a:sym typeface="Malgun Gothic"/>
              </a:rPr>
              <a:t>시각 데이터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를 실시간으로 분석하여 자동으로 </a:t>
            </a:r>
            <a:r>
              <a:rPr lang="en" sz="1600">
                <a:highlight>
                  <a:srgbClr val="FFCD00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화재를 감지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해 </a:t>
            </a:r>
            <a:r>
              <a:rPr lang="en" sz="1600">
                <a:highlight>
                  <a:schemeClr val="accent1"/>
                </a:highlight>
                <a:latin typeface="Malgun Gothic"/>
                <a:ea typeface="Malgun Gothic"/>
                <a:cs typeface="Malgun Gothic"/>
                <a:sym typeface="Malgun Gothic"/>
              </a:rPr>
              <a:t>긴급 호출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을 하는 기능을 제공</a:t>
            </a:r>
            <a:endParaRPr sz="1500">
              <a:latin typeface="Nanum Gothic"/>
              <a:ea typeface="Nanum Gothic"/>
              <a:cs typeface="Nanum Gothic"/>
              <a:sym typeface="Nanum Gothic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Nanum Gothic"/>
              <a:buChar char="●"/>
            </a:pPr>
            <a:r>
              <a:rPr lang="en" sz="1600">
                <a:highlight>
                  <a:schemeClr val="accent1"/>
                </a:highlight>
                <a:latin typeface="Malgun Gothic"/>
                <a:ea typeface="Malgun Gothic"/>
                <a:cs typeface="Malgun Gothic"/>
                <a:sym typeface="Malgun Gothic"/>
              </a:rPr>
              <a:t>OPENCV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를 활용하여 영상 내의 불의 불특정한 모양과 연기를 </a:t>
            </a:r>
            <a:r>
              <a:rPr lang="en" sz="1600">
                <a:highlight>
                  <a:srgbClr val="FFCD00"/>
                </a:highlight>
                <a:latin typeface="Malgun Gothic"/>
                <a:ea typeface="Malgun Gothic"/>
                <a:cs typeface="Malgun Gothic"/>
                <a:sym typeface="Malgun Gothic"/>
              </a:rPr>
              <a:t>감지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하게 되면 </a:t>
            </a:r>
            <a:r>
              <a:rPr lang="en" sz="1600">
                <a:highlight>
                  <a:srgbClr val="FFCD00"/>
                </a:highlight>
                <a:latin typeface="Malgun Gothic"/>
                <a:ea typeface="Malgun Gothic"/>
                <a:cs typeface="Malgun Gothic"/>
                <a:sym typeface="Malgun Gothic"/>
              </a:rPr>
              <a:t>신호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를 보내도록   기능 개발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238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Nanum Gothic"/>
              <a:buChar char="●"/>
            </a:pP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긴급호출 시 자동으로현재 상황에 대한 </a:t>
            </a:r>
            <a:r>
              <a:rPr lang="en" sz="1600">
                <a:highlight>
                  <a:schemeClr val="accent1"/>
                </a:highlight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(온도, 습도, 사진)를 </a:t>
            </a:r>
            <a:r>
              <a:rPr lang="en" sz="1600">
                <a:highlight>
                  <a:schemeClr val="accent1"/>
                </a:highlight>
                <a:latin typeface="Malgun Gothic"/>
                <a:ea typeface="Malgun Gothic"/>
                <a:cs typeface="Malgun Gothic"/>
                <a:sym typeface="Malgun Gothic"/>
              </a:rPr>
              <a:t>전송</a:t>
            </a:r>
            <a:r>
              <a:rPr lang="en" sz="1600">
                <a:latin typeface="Malgun Gothic"/>
                <a:ea typeface="Malgun Gothic"/>
                <a:cs typeface="Malgun Gothic"/>
                <a:sym typeface="Malgun Gothic"/>
              </a:rPr>
              <a:t>해주는 기능 개발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just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11" name="Google Shape;111;p1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</a:t>
            </a:fld>
            <a:endParaRPr lang="en-US"/>
          </a:p>
        </p:txBody>
      </p:sp>
      <p:sp>
        <p:nvSpPr>
          <p:cNvPr id="141" name="Google Shape;141;p18"/>
          <p:cNvSpPr txBox="1"/>
          <p:nvPr/>
        </p:nvSpPr>
        <p:spPr>
          <a:xfrm>
            <a:off x="1159825" y="2294700"/>
            <a:ext cx="487500" cy="5399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142" name="Google Shape;142;p18"/>
          <p:cNvSpPr txBox="1">
            <a:spLocks noGrp="1"/>
          </p:cNvSpPr>
          <p:nvPr>
            <p:ph type="ctrTitle"/>
          </p:nvPr>
        </p:nvSpPr>
        <p:spPr>
          <a:xfrm>
            <a:off x="1984675" y="2427600"/>
            <a:ext cx="3923700" cy="440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주요기능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구 성 도 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48" name="Google Shape;148;p1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49" name="Google Shape;149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450" y="1423125"/>
            <a:ext cx="5443324" cy="339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흐 름 도 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60" name="Google Shape;160;p2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61" name="Google Shape;161;p2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2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525" y="1287175"/>
            <a:ext cx="3774198" cy="37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주 요 기 능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72" name="Google Shape;172;p2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73" name="Google Shape;173;p2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916450" y="1549225"/>
          <a:ext cx="7239000" cy="2773470"/>
        </p:xfrm>
        <a:graphic>
          <a:graphicData uri="http://schemas.openxmlformats.org/drawingml/2006/table">
            <a:tbl>
              <a:tblPr>
                <a:noFill/>
                <a:tableStyleId>{F0A9EA49-D71A-4D90-B3E5-F04E48545290}</a:tableStyleId>
              </a:tblPr>
              <a:tblGrid>
                <a:gridCol w="15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기능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설명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실시간으로 수집된 데이터를 기반으로 자동 긴급 호출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client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호출된 후 원격으로 제어 가능하도록 QT위젯으로 설정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OpenCV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실시간 영상에서 불꽃과 연기를 색으로 감지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c/c++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호출장치를 구현하기 위해 사용할 언어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긴급 호출 장치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라즈베리 파이 내장된 장치(LED, piezo)로 호출 장치 구현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원격 제어 장치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QT widget을 활용한 안전 장치 설정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개 발 환 경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84" name="Google Shape;184;p2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85" name="Google Shape;185;p2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2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aphicFrame>
        <p:nvGraphicFramePr>
          <p:cNvPr id="190" name="Google Shape;190;p22"/>
          <p:cNvGraphicFramePr/>
          <p:nvPr/>
        </p:nvGraphicFramePr>
        <p:xfrm>
          <a:off x="916450" y="1446830"/>
          <a:ext cx="7162100" cy="3567320"/>
        </p:xfrm>
        <a:graphic>
          <a:graphicData uri="http://schemas.openxmlformats.org/drawingml/2006/table">
            <a:tbl>
              <a:tblPr>
                <a:noFill/>
                <a:tableStyleId>{F0A9EA49-D71A-4D90-B3E5-F04E48545290}</a:tableStyleId>
              </a:tblPr>
              <a:tblGrid>
                <a:gridCol w="9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7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구 분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항 목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적용내역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00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S/W</a:t>
                      </a:r>
                      <a:endParaRPr sz="12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개발 환경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Linux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서버에 리눅스 OS를 사용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개발환경(IDE)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VSC &amp; QT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원격제어 gui 제작에 사용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개발도구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OPENCV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화재 감지 및 영상처리에 사용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개발언어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C++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C++을 이용하여 코딩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400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H/W </a:t>
                      </a:r>
                      <a:endParaRPr sz="12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구성 장비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디바이스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Raspberrypi 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각종 센서를 제어하기 위한 기자재 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센서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온습도센서, 카메라센서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현재 공간의 온습도, 상황 데이터(이미지,영상)를 받아옴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4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통신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TCP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서버와 클라이언트 연결하기위한 통신수단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7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개발언어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C++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C++을 이용하여 코딩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장비(기자재/재료)활용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96" name="Google Shape;196;p23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97" name="Google Shape;197;p2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2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aphicFrame>
        <p:nvGraphicFramePr>
          <p:cNvPr id="202" name="Google Shape;202;p23"/>
          <p:cNvGraphicFramePr/>
          <p:nvPr/>
        </p:nvGraphicFramePr>
        <p:xfrm>
          <a:off x="952500" y="1809750"/>
          <a:ext cx="7239000" cy="2293730"/>
        </p:xfrm>
        <a:graphic>
          <a:graphicData uri="http://schemas.openxmlformats.org/drawingml/2006/table">
            <a:tbl>
              <a:tblPr>
                <a:noFill/>
                <a:tableStyleId>{F0A9EA49-D71A-4D90-B3E5-F04E48545290}</a:tableStyleId>
              </a:tblPr>
              <a:tblGrid>
                <a:gridCol w="51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품 명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작품에서의 주요기능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라즈베리파이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각종 센서를 제어하기 위한 기자재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센서(INPUT)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카메라 센서, 온습도 센서 등의 센서를 통해 값을 라즈베리 파이에 송신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센서(OUTPUT)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위기상황이 감지되면 RGB센서, PIEZO센서 등에 대한 값을 라즈베리파이에서 수신하여 출력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11</a:t>
            </a:fld>
            <a:endParaRPr lang="en-US"/>
          </a:p>
        </p:txBody>
      </p:sp>
      <p:sp>
        <p:nvSpPr>
          <p:cNvPr id="208" name="Google Shape;208;p24"/>
          <p:cNvSpPr txBox="1"/>
          <p:nvPr/>
        </p:nvSpPr>
        <p:spPr>
          <a:xfrm>
            <a:off x="1159825" y="2294700"/>
            <a:ext cx="487500" cy="5399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ctrTitle"/>
          </p:nvPr>
        </p:nvSpPr>
        <p:spPr>
          <a:xfrm>
            <a:off x="2287650" y="2408100"/>
            <a:ext cx="2749800" cy="440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 당 업 무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 당 업 무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15" name="Google Shape;215;p2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16" name="Google Shape;216;p2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2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550" y="1399975"/>
            <a:ext cx="4841976" cy="32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1817275" y="4629750"/>
            <a:ext cx="52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&gt; vs code에서 TCP/IP 로 실시간 온도값을 받아오는 것을 확인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 당 업 무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15" name="Google Shape;215;p2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16" name="Google Shape;216;p2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2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13</a:t>
            </a:fld>
            <a:endParaRPr lang="en-US"/>
          </a:p>
        </p:txBody>
      </p:sp>
      <p:sp>
        <p:nvSpPr>
          <p:cNvPr id="222" name="Google Shape;222;p25"/>
          <p:cNvSpPr txBox="1"/>
          <p:nvPr/>
        </p:nvSpPr>
        <p:spPr>
          <a:xfrm>
            <a:off x="1817275" y="4629750"/>
            <a:ext cx="5290500" cy="39562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02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>
                <a:solidFill>
                  <a:schemeClr val="dk1"/>
                </a:solidFill>
              </a:rPr>
              <a:t>&gt; </a:t>
            </a:r>
            <a:r>
              <a:rPr lang="ko-KR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QT에서 서버에서 실시간 온도값을 처리</a:t>
            </a:r>
          </a:p>
        </p:txBody>
      </p:sp>
      <p:pic>
        <p:nvPicPr>
          <p:cNvPr id="223" name="Google Shape;435;p28"/>
          <p:cNvPicPr/>
          <p:nvPr/>
        </p:nvPicPr>
        <p:blipFill rotWithShape="1">
          <a:blip r:embed="rId3">
            <a:alphaModFix/>
          </a:blip>
          <a:srcRect r="6870" b="1040"/>
          <a:stretch>
            <a:fillRect/>
          </a:stretch>
        </p:blipFill>
        <p:spPr>
          <a:xfrm>
            <a:off x="1215729" y="1680816"/>
            <a:ext cx="3095763" cy="2584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436;p28"/>
          <p:cNvPicPr/>
          <p:nvPr/>
        </p:nvPicPr>
        <p:blipFill rotWithShape="1">
          <a:blip r:embed="rId4">
            <a:alphaModFix/>
          </a:blip>
          <a:srcRect r="10900" b="3670"/>
          <a:stretch>
            <a:fillRect/>
          </a:stretch>
        </p:blipFill>
        <p:spPr>
          <a:xfrm>
            <a:off x="4462525" y="1680816"/>
            <a:ext cx="2934571" cy="2708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 당 업 무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29" name="Google Shape;229;p2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2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700" y="1477750"/>
            <a:ext cx="5569176" cy="29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1754475" y="4596125"/>
            <a:ext cx="52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Quattrocento Sans"/>
                <a:ea typeface="Quattrocento Sans"/>
                <a:cs typeface="Quattrocento Sans"/>
                <a:sym typeface="Quattrocento Sans"/>
              </a:rPr>
              <a:t>&gt; Widget에서 온도값이 찍히는 것을 확인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담 당 업 무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41" name="Google Shape;241;p2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42" name="Google Shape;242;p2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2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247" name="Google Shape;2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075" y="1531250"/>
            <a:ext cx="6474200" cy="28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코드(LED)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53" name="Google Shape;253;p28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54" name="Google Shape;254;p2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2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59" name="Google Shape;2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900" y="1541077"/>
            <a:ext cx="4117299" cy="25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175" y="1470475"/>
            <a:ext cx="2905475" cy="28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코드(PWM_LED)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66" name="Google Shape;266;p2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67" name="Google Shape;267;p2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2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450" y="1636825"/>
            <a:ext cx="4499025" cy="311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938" y="1684075"/>
            <a:ext cx="2670825" cy="32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코드(PIEZO)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79" name="Google Shape;279;p3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80" name="Google Shape;280;p3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3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425" y="1462775"/>
            <a:ext cx="3801450" cy="34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050" y="1462775"/>
            <a:ext cx="3260915" cy="313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코드(PIEZO)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92" name="Google Shape;292;p3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93" name="Google Shape;293;p3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98" name="Google Shape;2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450" y="1476775"/>
            <a:ext cx="3737550" cy="29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1"/>
          <p:cNvSpPr txBox="1"/>
          <p:nvPr/>
        </p:nvSpPr>
        <p:spPr>
          <a:xfrm>
            <a:off x="4741675" y="1476775"/>
            <a:ext cx="419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코드(SW)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305" name="Google Shape;305;p3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06" name="Google Shape;306;p3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3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11" name="Google Shape;3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675" y="1416900"/>
            <a:ext cx="3681899" cy="34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275" y="1470063"/>
            <a:ext cx="3143525" cy="33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title"/>
          </p:nvPr>
        </p:nvSpPr>
        <p:spPr>
          <a:xfrm>
            <a:off x="1817274" y="909275"/>
            <a:ext cx="4984764" cy="435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코드(Temp, Humi) 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318" name="Google Shape;318;p33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19" name="Google Shape;319;p3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3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3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21</a:t>
            </a:fld>
            <a:endParaRPr lang="en-US"/>
          </a:p>
        </p:txBody>
      </p:sp>
      <p:pic>
        <p:nvPicPr>
          <p:cNvPr id="324" name="Google Shape;324;p3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916450" y="1596187"/>
            <a:ext cx="3465427" cy="31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3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4786925" y="1522350"/>
            <a:ext cx="3350250" cy="31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1010525" y="4654150"/>
            <a:ext cx="7789800" cy="585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" sz="1200" u="sng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 txBox="1">
            <a:spLocks noGrp="1"/>
          </p:cNvSpPr>
          <p:nvPr>
            <p:ph type="title"/>
          </p:nvPr>
        </p:nvSpPr>
        <p:spPr>
          <a:xfrm>
            <a:off x="1817275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라즈베리 제어 코드</a:t>
            </a:r>
            <a:endParaRPr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332" name="Google Shape;332;p3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33" name="Google Shape;333;p34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3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22</a:t>
            </a:fld>
            <a:endParaRPr lang="en-US"/>
          </a:p>
        </p:txBody>
      </p:sp>
      <p:sp>
        <p:nvSpPr>
          <p:cNvPr id="338" name="Google Shape;338;p34"/>
          <p:cNvSpPr txBox="1"/>
          <p:nvPr/>
        </p:nvSpPr>
        <p:spPr>
          <a:xfrm>
            <a:off x="1678800" y="1557099"/>
            <a:ext cx="5786400" cy="338255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dirty="0"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Widget.cpp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u="sng" dirty="0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https://github.com/daeun1130/Raspberry-pi-QT5/blob/master/pro06_pca9685_class/widget.cpp</a:t>
            </a:r>
            <a:endParaRPr lang="en" u="sng" dirty="0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" dirty="0">
                <a:solidFill>
                  <a:schemeClr val="dk1"/>
                </a:solidFill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Thread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u="sng" dirty="0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https://github.com/daeun1130/Raspberry-pi-QT5/blob/master/pro06_pca9685_class/main.cpp</a:t>
            </a:r>
            <a:endParaRPr lang="en" u="sng" dirty="0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dirty="0">
                <a:solidFill>
                  <a:schemeClr val="dk1"/>
                </a:solidFill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PIEZO 음계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/>
              </a:rPr>
              <a:t>https://github.com/daeun1130/Raspberry-pi-QT5/blob/master/pro06_pca9685_class/piezo.h</a:t>
            </a:r>
            <a:endParaRPr lang="en" u="sng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dirty="0">
                <a:solidFill>
                  <a:schemeClr val="dk1"/>
                </a:solidFill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Temp, </a:t>
            </a:r>
            <a:r>
              <a:rPr lang="en-US" altLang="ko-KR" dirty="0" err="1">
                <a:solidFill>
                  <a:schemeClr val="dk1"/>
                </a:solidFill>
                <a:highlight>
                  <a:schemeClr val="accen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Humi</a:t>
            </a:r>
            <a:endParaRPr lang="en-US" altLang="ko-KR" dirty="0">
              <a:solidFill>
                <a:schemeClr val="dk1"/>
              </a:solidFill>
              <a:highlight>
                <a:schemeClr val="accent1"/>
              </a:highlight>
              <a:latin typeface="Quattrocento Sans"/>
              <a:ea typeface="Quattrocento Sans"/>
              <a:cs typeface="Quattrocento Sans"/>
              <a:sym typeface="Quattrocento Sans"/>
              <a:hlinkClick r:id="rId6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u="sng" dirty="0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/>
              </a:rPr>
              <a:t>https://github.com/daeun1130/Raspberry-pi-QT5/blob/master/pro06_pca9685_class/I2C_API.cpp</a:t>
            </a:r>
            <a:endParaRPr lang="en" u="sng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1159825" y="2294700"/>
            <a:ext cx="48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ctrTitle"/>
          </p:nvPr>
        </p:nvSpPr>
        <p:spPr>
          <a:xfrm>
            <a:off x="2287650" y="2408100"/>
            <a:ext cx="27498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추 후 방 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>
            <a:spLocks noGrp="1"/>
          </p:cNvSpPr>
          <p:nvPr>
            <p:ph type="title"/>
          </p:nvPr>
        </p:nvSpPr>
        <p:spPr>
          <a:xfrm>
            <a:off x="1602950" y="909275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">
                <a:latin typeface="Nanum Gothic"/>
                <a:ea typeface="Nanum Gothic"/>
                <a:cs typeface="Nanum Gothic"/>
                <a:sym typeface="Nanum Gothic"/>
              </a:rPr>
              <a:t>추 후 방 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351" name="Google Shape;351;p36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52" name="Google Shape;352;p3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3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24</a:t>
            </a:fld>
            <a:endParaRPr lang="en-US"/>
          </a:p>
        </p:txBody>
      </p:sp>
      <p:sp>
        <p:nvSpPr>
          <p:cNvPr id="357" name="Google Shape;357;p36"/>
          <p:cNvSpPr txBox="1"/>
          <p:nvPr/>
        </p:nvSpPr>
        <p:spPr>
          <a:xfrm>
            <a:off x="1782847" y="1733354"/>
            <a:ext cx="5636856" cy="264684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396740" lvl="0" indent="-257040" algn="l">
              <a:buClr>
                <a:schemeClr val="accent1"/>
              </a:buClr>
              <a:buSzPct val="75000"/>
              <a:buFont typeface="Wingdings"/>
              <a:buChar char="l"/>
              <a:defRPr/>
            </a:pPr>
            <a:r>
              <a:rPr lang="ko-KR" altLang="en-US" sz="2200" dirty="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리눅스</a:t>
            </a:r>
            <a:endParaRPr lang="en-US" altLang="ko-KR" sz="2200" dirty="0" smtClean="0">
              <a:solidFill>
                <a:schemeClr val="tx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9700" lvl="0">
              <a:buClr>
                <a:schemeClr val="accent1"/>
              </a:buClr>
              <a:buSzPct val="75000"/>
              <a:defRPr/>
            </a:pPr>
            <a:r>
              <a:rPr lang="en-US" altLang="ko-KR" sz="1100" dirty="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lang="en-US" altLang="ko-KR" sz="1100" dirty="0" err="1" smtClean="0"/>
              <a:t>IoT</a:t>
            </a:r>
            <a:r>
              <a:rPr lang="en-US" altLang="ko-KR" sz="1100" dirty="0"/>
              <a:t>, </a:t>
            </a:r>
            <a:r>
              <a:rPr lang="ko-KR" altLang="en-US" sz="1100" dirty="0" err="1"/>
              <a:t>클라우드</a:t>
            </a:r>
            <a:r>
              <a:rPr lang="ko-KR" altLang="en-US" sz="1100" dirty="0"/>
              <a:t> 컴퓨팅</a:t>
            </a:r>
            <a:r>
              <a:rPr lang="en-US" altLang="ko-KR" sz="1100" dirty="0"/>
              <a:t>, </a:t>
            </a:r>
            <a:r>
              <a:rPr lang="ko-KR" altLang="en-US" sz="1100" dirty="0"/>
              <a:t>빅데이터</a:t>
            </a:r>
            <a:r>
              <a:rPr lang="en-US" altLang="ko-KR" sz="1100" dirty="0"/>
              <a:t>, </a:t>
            </a:r>
            <a:r>
              <a:rPr lang="ko-KR" altLang="en-US" sz="1100" dirty="0"/>
              <a:t>인공지능</a:t>
            </a:r>
            <a:r>
              <a:rPr lang="en-US" altLang="ko-KR" sz="1100" dirty="0"/>
              <a:t>, </a:t>
            </a:r>
            <a:r>
              <a:rPr lang="ko-KR" altLang="en-US" sz="1100" dirty="0" err="1"/>
              <a:t>머신러닝</a:t>
            </a:r>
            <a:r>
              <a:rPr lang="en-US" altLang="ko-KR" sz="1100" dirty="0"/>
              <a:t>, </a:t>
            </a:r>
            <a:r>
              <a:rPr lang="ko-KR" altLang="en-US" sz="1100" dirty="0" smtClean="0"/>
              <a:t>자동화 리눅스 운영체제 기반</a:t>
            </a:r>
            <a:endParaRPr lang="en-US" altLang="ko-KR" sz="1100" dirty="0" smtClean="0">
              <a:solidFill>
                <a:schemeClr val="tx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96740" lvl="0" indent="-257040">
              <a:buClr>
                <a:schemeClr val="accent1"/>
              </a:buClr>
              <a:buSzPct val="75000"/>
              <a:buFont typeface="Wingdings"/>
              <a:buChar char="l"/>
              <a:defRPr/>
            </a:pPr>
            <a:r>
              <a:rPr lang="en-US" altLang="ko-KR" sz="2200" dirty="0" smtClean="0"/>
              <a:t>meta-object system</a:t>
            </a:r>
          </a:p>
          <a:p>
            <a:pPr marL="139700" lvl="0">
              <a:buClr>
                <a:schemeClr val="accent1"/>
              </a:buClr>
              <a:buSzPct val="75000"/>
              <a:defRPr/>
            </a:pPr>
            <a:r>
              <a:rPr lang="en-US" altLang="ko-KR" sz="1100" dirty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lang="en-US" altLang="ko-KR" sz="1100" dirty="0" err="1" smtClean="0"/>
              <a:t>Qt</a:t>
            </a:r>
            <a:r>
              <a:rPr lang="en-US" altLang="ko-KR" sz="1100" dirty="0" smtClean="0"/>
              <a:t> </a:t>
            </a:r>
            <a:r>
              <a:rPr lang="en-US" altLang="ko-KR" sz="1100" dirty="0"/>
              <a:t>Framework</a:t>
            </a:r>
            <a:r>
              <a:rPr lang="ko-KR" altLang="en-US" sz="1100" dirty="0"/>
              <a:t>의 일부분으로</a:t>
            </a:r>
            <a:r>
              <a:rPr lang="en-US" altLang="ko-KR" sz="1100" dirty="0"/>
              <a:t>,Object </a:t>
            </a:r>
            <a:r>
              <a:rPr lang="ko-KR" altLang="en-US" sz="1100" dirty="0"/>
              <a:t>간 통신 메커니즘을 위한 </a:t>
            </a:r>
            <a:r>
              <a:rPr lang="en-US" altLang="ko-KR" sz="1100" dirty="0"/>
              <a:t>Signal/Slot, </a:t>
            </a:r>
            <a:r>
              <a:rPr lang="ko-KR" altLang="en-US" sz="1100" dirty="0"/>
              <a:t>런타임 정보 제공  </a:t>
            </a:r>
            <a:r>
              <a:rPr lang="en-US" altLang="ko-KR" sz="1100" dirty="0"/>
              <a:t>QT</a:t>
            </a:r>
            <a:r>
              <a:rPr lang="ko-KR" altLang="en-US" sz="1100" dirty="0"/>
              <a:t>라이브러리의 기초</a:t>
            </a:r>
            <a:endParaRPr lang="en-US" altLang="ko-KR" sz="1100" dirty="0" smtClean="0"/>
          </a:p>
          <a:p>
            <a:pPr marL="396740" lvl="0" indent="-257040">
              <a:buClr>
                <a:schemeClr val="accent1"/>
              </a:buClr>
              <a:buSzPct val="75000"/>
              <a:buFont typeface="Wingdings"/>
              <a:buChar char="l"/>
              <a:defRPr/>
            </a:pPr>
            <a:r>
              <a:rPr lang="en-US" altLang="ko-KR" sz="2200" dirty="0" smtClean="0"/>
              <a:t>QML</a:t>
            </a:r>
          </a:p>
          <a:p>
            <a:pPr marL="139700">
              <a:buClr>
                <a:schemeClr val="accent1"/>
              </a:buClr>
              <a:buSzPct val="75000"/>
              <a:defRPr/>
            </a:pPr>
            <a:r>
              <a:rPr lang="en-US" altLang="ko-KR" sz="1100" dirty="0"/>
              <a:t>- QML(QT </a:t>
            </a:r>
            <a:r>
              <a:rPr lang="ko-KR" altLang="en-US" sz="1100" dirty="0"/>
              <a:t>모델링 언어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Qt</a:t>
            </a:r>
            <a:r>
              <a:rPr lang="en-US" altLang="ko-KR" sz="1100" dirty="0"/>
              <a:t> Modeling Language)</a:t>
            </a:r>
            <a:r>
              <a:rPr lang="ko-KR" altLang="en-US" sz="1100" dirty="0"/>
              <a:t>은 </a:t>
            </a:r>
            <a:r>
              <a:rPr lang="ko-KR" altLang="en-US" sz="1100" dirty="0">
                <a:hlinkClick r:id="rId3" tooltip="사용자 인터페이스 마크업 언어 (없는 문서)"/>
              </a:rPr>
              <a:t>사용자 인터페이스 </a:t>
            </a:r>
            <a:r>
              <a:rPr lang="ko-KR" altLang="en-US" sz="1100" dirty="0" err="1">
                <a:hlinkClick r:id="rId3" tooltip="사용자 인터페이스 마크업 언어 (없는 문서)"/>
              </a:rPr>
              <a:t>마크업</a:t>
            </a:r>
            <a:r>
              <a:rPr lang="ko-KR" altLang="en-US" sz="1100" dirty="0">
                <a:hlinkClick r:id="rId3" tooltip="사용자 인터페이스 마크업 언어 (없는 문서)"/>
              </a:rPr>
              <a:t> </a:t>
            </a:r>
            <a:r>
              <a:rPr lang="ko-KR" altLang="en-US" sz="1100" dirty="0" smtClean="0">
                <a:hlinkClick r:id="rId3" tooltip="사용자 인터페이스 마크업 언어 (없는 문서)"/>
              </a:rPr>
              <a:t>언어</a:t>
            </a:r>
            <a:endParaRPr lang="en-US" altLang="ko-KR" sz="2200" dirty="0" smtClean="0"/>
          </a:p>
          <a:p>
            <a:pPr marL="396740" lvl="0" indent="-257040">
              <a:buClr>
                <a:schemeClr val="accent1"/>
              </a:buClr>
              <a:buSzPct val="75000"/>
              <a:buFont typeface="Wingdings"/>
              <a:buChar char="l"/>
              <a:defRPr/>
            </a:pPr>
            <a:r>
              <a:rPr lang="ko-KR" altLang="en-US" sz="220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자바스크립트</a:t>
            </a:r>
            <a:r>
              <a:rPr lang="en-US" altLang="ko-KR" sz="2200" dirty="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" sz="2200" dirty="0" smtClean="0">
                <a:solidFill>
                  <a:schemeClr val="tx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코틀린</a:t>
            </a:r>
            <a:endParaRPr lang="en" dirty="0">
              <a:solidFill>
                <a:schemeClr val="tx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9700" lvl="0" indent="0" algn="l">
              <a:buClr>
                <a:schemeClr val="accent1"/>
              </a:buClr>
              <a:buSzPct val="25000"/>
              <a:buNone/>
              <a:defRPr/>
            </a:pPr>
            <a:endParaRPr lang="en" dirty="0">
              <a:solidFill>
                <a:schemeClr val="tx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Quattrocento Sans"/>
              <a:buChar char="●"/>
              <a:defRPr/>
            </a:pPr>
            <a:endParaRPr dirty="0">
              <a:solidFill>
                <a:schemeClr val="accen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>
            <a:spLocks noGrp="1"/>
          </p:cNvSpPr>
          <p:nvPr>
            <p:ph type="ctrTitle" idx="4294967295"/>
          </p:nvPr>
        </p:nvSpPr>
        <p:spPr>
          <a:xfrm>
            <a:off x="1951450" y="3122625"/>
            <a:ext cx="52410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</a:pPr>
            <a:r>
              <a:rPr lang="en" sz="4800">
                <a:highlight>
                  <a:schemeClr val="accent1"/>
                </a:highlight>
                <a:latin typeface="Nanum Gothic"/>
                <a:ea typeface="Nanum Gothic"/>
                <a:cs typeface="Nanum Gothic"/>
                <a:sym typeface="Nanum Gothic"/>
              </a:rPr>
              <a:t>감 사 합 니 다</a:t>
            </a:r>
            <a:endParaRPr sz="4800" i="0" u="none" strike="noStrike" cap="none">
              <a:solidFill>
                <a:schemeClr val="dk1"/>
              </a:solidFill>
              <a:highlight>
                <a:schemeClr val="accent1"/>
              </a:highlight>
              <a:latin typeface="Nanum Gothic"/>
              <a:ea typeface="Nanum Gothic"/>
              <a:cs typeface="Nanum Gothic"/>
              <a:sym typeface="Nanum Gothic"/>
            </a:endParaRPr>
          </a:p>
        </p:txBody>
      </p:sp>
      <p:cxnSp>
        <p:nvCxnSpPr>
          <p:cNvPr id="363" name="Google Shape;363;p37"/>
          <p:cNvCxnSpPr/>
          <p:nvPr/>
        </p:nvCxnSpPr>
        <p:spPr>
          <a:xfrm>
            <a:off x="-6025" y="1668728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4" name="Google Shape;364;p37"/>
          <p:cNvSpPr/>
          <p:nvPr/>
        </p:nvSpPr>
        <p:spPr>
          <a:xfrm>
            <a:off x="3470200" y="566931"/>
            <a:ext cx="2203500" cy="220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37"/>
          <p:cNvGrpSpPr/>
          <p:nvPr/>
        </p:nvGrpSpPr>
        <p:grpSpPr>
          <a:xfrm>
            <a:off x="4184369" y="854983"/>
            <a:ext cx="1035173" cy="1035155"/>
            <a:chOff x="6643075" y="3664250"/>
            <a:chExt cx="407950" cy="407975"/>
          </a:xfrm>
        </p:grpSpPr>
        <p:sp>
          <p:nvSpPr>
            <p:cNvPr id="366" name="Google Shape;366;p37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37"/>
          <p:cNvGrpSpPr/>
          <p:nvPr/>
        </p:nvGrpSpPr>
        <p:grpSpPr>
          <a:xfrm rot="-587406">
            <a:off x="4123593" y="2025004"/>
            <a:ext cx="425594" cy="425570"/>
            <a:chOff x="576250" y="4319400"/>
            <a:chExt cx="442075" cy="442050"/>
          </a:xfrm>
        </p:grpSpPr>
        <p:sp>
          <p:nvSpPr>
            <p:cNvPr id="369" name="Google Shape;369;p3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37"/>
          <p:cNvSpPr/>
          <p:nvPr/>
        </p:nvSpPr>
        <p:spPr>
          <a:xfrm>
            <a:off x="3936800" y="1094079"/>
            <a:ext cx="161807" cy="15450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7"/>
          <p:cNvSpPr/>
          <p:nvPr/>
        </p:nvSpPr>
        <p:spPr>
          <a:xfrm rot="2697385">
            <a:off x="5003062" y="1885038"/>
            <a:ext cx="245621" cy="23452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5197375" y="1751151"/>
            <a:ext cx="98383" cy="9397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7"/>
          <p:cNvSpPr/>
          <p:nvPr/>
        </p:nvSpPr>
        <p:spPr>
          <a:xfrm rot="1280154">
            <a:off x="3824705" y="1560095"/>
            <a:ext cx="98367" cy="9395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479</Words>
  <Application>Microsoft Office PowerPoint</Application>
  <PresentationFormat>화면 슬라이드 쇼(16:9)</PresentationFormat>
  <Paragraphs>150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Lora</vt:lpstr>
      <vt:lpstr>Nanum Gothic</vt:lpstr>
      <vt:lpstr>Quattrocento Sans</vt:lpstr>
      <vt:lpstr>Malgun Gothic</vt:lpstr>
      <vt:lpstr>Malgun Gothic</vt:lpstr>
      <vt:lpstr>Arial</vt:lpstr>
      <vt:lpstr>Wingdings</vt:lpstr>
      <vt:lpstr>Viola template</vt:lpstr>
      <vt:lpstr>신규 사원 세미나  </vt:lpstr>
      <vt:lpstr>프로젝트 소개</vt:lpstr>
      <vt:lpstr>프로젝트 소개</vt:lpstr>
      <vt:lpstr>프로젝트 소개</vt:lpstr>
      <vt:lpstr>주요기능</vt:lpstr>
      <vt:lpstr>구 성 도  </vt:lpstr>
      <vt:lpstr>흐 름 도  </vt:lpstr>
      <vt:lpstr>주 요 기 능</vt:lpstr>
      <vt:lpstr>개 발 환 경</vt:lpstr>
      <vt:lpstr>장비(기자재/재료)활용</vt:lpstr>
      <vt:lpstr>담 당 업 무</vt:lpstr>
      <vt:lpstr>담 당 업 무</vt:lpstr>
      <vt:lpstr>담 당 업 무</vt:lpstr>
      <vt:lpstr>담 당 업 무</vt:lpstr>
      <vt:lpstr>담 당 업 무 </vt:lpstr>
      <vt:lpstr>라즈베리 제어 코드(LED) </vt:lpstr>
      <vt:lpstr>라즈베리 제어 코드(PWM_LED) </vt:lpstr>
      <vt:lpstr>라즈베리 제어 코드(PIEZO) </vt:lpstr>
      <vt:lpstr>라즈베리 제어 코드(PIEZO) </vt:lpstr>
      <vt:lpstr>라즈베리 제어 코드(SW) </vt:lpstr>
      <vt:lpstr>라즈베리 제어 코드(Temp, Humi) </vt:lpstr>
      <vt:lpstr>라즈베리 제어 코드</vt:lpstr>
      <vt:lpstr>추 후 방 향</vt:lpstr>
      <vt:lpstr>추 후 방 향</vt:lpstr>
      <vt:lpstr>감 사 합 니 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신규 사원 세미나  </dc:title>
  <dc:creator>82107</dc:creator>
  <cp:lastModifiedBy>82107</cp:lastModifiedBy>
  <cp:revision>15</cp:revision>
  <dcterms:modified xsi:type="dcterms:W3CDTF">2022-07-07T17:01:26Z</dcterms:modified>
  <cp:version/>
</cp:coreProperties>
</file>